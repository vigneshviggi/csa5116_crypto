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1452ED22-4D14-B68D-7DB8-DD2BBD569E11}">
          <p14:sldIdLst>
            <p14:sldId id="256"/>
          </p14:sldIdLst>
        </p14:section>
        <p14:section name="Concepts" id="{9E7853FF-7EA1-9E7A-6541-F0572E58D1F5}">
          <p14:sldIdLst>
            <p14:sldId id="257"/>
            <p14:sldId id="258"/>
            <p14:sldId id="259"/>
          </p14:sldIdLst>
        </p14:section>
        <p14:section name="Comparison" id="{74003905-107C-162A-2CB6-81819FE0CA6A}">
          <p14:sldIdLst>
            <p14:sldId id="260"/>
          </p14:sldIdLst>
        </p14:section>
        <p14:section name="Steganography" id="{7A1A925B-BBF2-CFFE-EE8D-711C36209DC9}">
          <p14:sldIdLst>
            <p14:sldId id="261"/>
            <p14:sldId id="262"/>
          </p14:sldIdLst>
        </p14:section>
        <p14:section name="Cryptography" id="{C464BB3E-8EA4-B596-CBAE-4654C1CBB518}">
          <p14:sldIdLst>
            <p14:sldId id="263"/>
          </p14:sldIdLst>
        </p14:section>
        <p14:section name="Together" id="{AE8F8A97-2CAC-C921-8C99-ABBE10048824}">
          <p14:sldIdLst>
            <p14:sldId id="264"/>
          </p14:sldIdLst>
        </p14:section>
        <p14:section name="Wrap-up" id="{FB057588-500A-497C-B4C7-4FF04257882A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9057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disciplines for protecting information: one scrambles it, the other hides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Cryptography protects content. Steganography protects the very fact that communication is happening.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ciphertext is visible to everyone, but its security rests entirely on the secrecy of the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competing design goals: stay invisible, carry as much as possible, and survive modification. Improving one usually costs another.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Cryptography protects the content; steganography protects the existence of the message. Their weaknesses are complementary.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Any medium with redundancy or noise can carry hidden data. Images are the most common carrier.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1024 x 768 x 3 channels = 2,359,296 bits = about 288 KB. Capacity is theoretical; real tools use less to avoid statistical detection.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systems combine these: asymmetric crypto to exchange a key, symmetric crypto for the data, hashes for integrity.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Encrypt first, then embed. Attackers use the same trick, so defenders rely on steganalysis and file sanitization.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asking: which threat is your data facing, and do you need to hide the content, the existence, or both?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rgbClr val="0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097280"/>
            <a:ext cx="50292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017520"/>
            <a:ext cx="50292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ONTENT">
    <p:bg>
      <p:bgPr>
        <a:solidFill>
          <a:srgbClr val="0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097280"/>
            <a:ext cx="5029200" cy="1737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bg1"/>
                </a:solidFill>
              </a:rPr>
              <a:t>Steganography vs Cryptography</a:t>
            </a:r>
            <a:endParaRPr lang="en-US" sz="3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01752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accent6"/>
                </a:solidFill>
              </a:rPr>
              <a:t>Hidden Security in the Digital World</a:t>
            </a:r>
            <a:endParaRPr lang="en-US" sz="1800" dirty="0"/>
          </a:p>
        </p:txBody>
      </p:sp>
      <p:sp>
        <p:nvSpPr>
          <p:cNvPr id="4" name="Lock circle"/>
          <p:cNvSpPr/>
          <p:nvPr/>
        </p:nvSpPr>
        <p:spPr>
          <a:xfrm>
            <a:off x="6035040" y="100584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Lo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1501" y="1492301"/>
            <a:ext cx="764438" cy="764438"/>
          </a:xfrm>
          <a:prstGeom prst="rect">
            <a:avLst/>
          </a:prstGeom>
        </p:spPr>
      </p:pic>
      <p:sp>
        <p:nvSpPr>
          <p:cNvPr id="6" name="Hidden eye circle"/>
          <p:cNvSpPr/>
          <p:nvPr/>
        </p:nvSpPr>
        <p:spPr>
          <a:xfrm>
            <a:off x="6949440" y="2743200"/>
            <a:ext cx="1737360" cy="173736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1" descr="Hidden ey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5901" y="3229661"/>
            <a:ext cx="764438" cy="7644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AC41123-14AD-BC6E-AB7D-02F7C279932F}"/>
              </a:ext>
            </a:extLst>
          </p:cNvPr>
          <p:cNvSpPr txBox="1"/>
          <p:nvPr/>
        </p:nvSpPr>
        <p:spPr>
          <a:xfrm>
            <a:off x="672174" y="3653664"/>
            <a:ext cx="44327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IN" dirty="0" err="1">
                <a:solidFill>
                  <a:schemeClr val="bg1">
                    <a:lumMod val="95000"/>
                  </a:schemeClr>
                </a:solidFill>
              </a:rPr>
              <a:t>G.Vignesh</a:t>
            </a:r>
            <a:endParaRPr lang="en-IN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192373051</a:t>
            </a:r>
          </a:p>
          <a:p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CSA5116-Cryptography and Network Security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3D455B0-5A41-EA69-49EA-2FD9D8A0DF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125" y="112458"/>
            <a:ext cx="1133475" cy="115922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380E470-D759-0B78-14F6-4375292E1A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89678" y="95860"/>
            <a:ext cx="1274590" cy="111526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Two ways to keep a secret</a:t>
            </a:r>
            <a:endParaRPr lang="en-US" sz="3200" dirty="0"/>
          </a:p>
        </p:txBody>
      </p:sp>
      <p:sp>
        <p:nvSpPr>
          <p:cNvPr id="3" name="Cryptography card"/>
          <p:cNvSpPr/>
          <p:nvPr/>
        </p:nvSpPr>
        <p:spPr>
          <a:xfrm>
            <a:off x="548640" y="1325880"/>
            <a:ext cx="3657600" cy="2697480"/>
          </a:xfrm>
          <a:prstGeom prst="roundRect">
            <a:avLst>
              <a:gd name="adj" fmla="val 339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Cryptography circle"/>
          <p:cNvSpPr/>
          <p:nvPr/>
        </p:nvSpPr>
        <p:spPr>
          <a:xfrm>
            <a:off x="822960" y="16002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Cryptograph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1792224"/>
            <a:ext cx="301752" cy="30175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423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1"/>
                </a:solidFill>
              </a:rPr>
              <a:t>Cryptography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788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accent3"/>
                </a:solidFill>
              </a:rPr>
              <a:t>Hide the meaning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1546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Everyone can see a message exists, but without the key it cannot be read.</a:t>
            </a:r>
            <a:endParaRPr lang="en-US" sz="1400" dirty="0"/>
          </a:p>
        </p:txBody>
      </p:sp>
      <p:sp>
        <p:nvSpPr>
          <p:cNvPr id="9" name="Steganography card"/>
          <p:cNvSpPr/>
          <p:nvPr/>
        </p:nvSpPr>
        <p:spPr>
          <a:xfrm>
            <a:off x="4937760" y="1325880"/>
            <a:ext cx="3657600" cy="2697480"/>
          </a:xfrm>
          <a:prstGeom prst="roundRect">
            <a:avLst>
              <a:gd name="adj" fmla="val 339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teganography circle"/>
          <p:cNvSpPr/>
          <p:nvPr/>
        </p:nvSpPr>
        <p:spPr>
          <a:xfrm>
            <a:off x="5212080" y="160020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Steganograph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4104" y="179222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12080" y="2423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1"/>
                </a:solidFill>
              </a:rPr>
              <a:t>Steganography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5212080" y="2788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accent3"/>
                </a:solidFill>
              </a:rPr>
              <a:t>Hide the existence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5212080" y="31546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The message is concealed inside an ordinary file, so nobody looks for it.</a:t>
            </a:r>
            <a:endParaRPr lang="en-US" sz="1400" dirty="0"/>
          </a:p>
        </p:txBody>
      </p:sp>
      <p:sp>
        <p:nvSpPr>
          <p:cNvPr id="15" name="VS badge"/>
          <p:cNvSpPr/>
          <p:nvPr/>
        </p:nvSpPr>
        <p:spPr>
          <a:xfrm>
            <a:off x="4297680" y="242316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2"/>
          <p:cNvSpPr txBox="1"/>
          <p:nvPr/>
        </p:nvSpPr>
        <p:spPr>
          <a:xfrm>
            <a:off x="429768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VS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4251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chemeClr val="accent3"/>
                </a:solidFill>
              </a:rPr>
              <a:t>kryptos = hidden   |   steganos = covered   |   graphein = writing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Cryptography: scrambling the message</a:t>
            </a:r>
            <a:endParaRPr lang="en-US" sz="3200" dirty="0"/>
          </a:p>
        </p:txBody>
      </p:sp>
      <p:sp>
        <p:nvSpPr>
          <p:cNvPr id="3" name="flow box 1"/>
          <p:cNvSpPr/>
          <p:nvPr/>
        </p:nvSpPr>
        <p:spPr>
          <a:xfrm>
            <a:off x="548640" y="1325880"/>
            <a:ext cx="137160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PLAINTEXT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MEET AT NOON</a:t>
            </a:r>
            <a:endParaRPr lang="en-US" sz="1300" dirty="0"/>
          </a:p>
        </p:txBody>
      </p:sp>
      <p:sp>
        <p:nvSpPr>
          <p:cNvPr id="6" name="arrow"/>
          <p:cNvSpPr/>
          <p:nvPr/>
        </p:nvSpPr>
        <p:spPr>
          <a:xfrm>
            <a:off x="1965960" y="1874520"/>
            <a:ext cx="210312" cy="274320"/>
          </a:xfrm>
          <a:prstGeom prst="rightArrow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flow box 2"/>
          <p:cNvSpPr/>
          <p:nvPr/>
        </p:nvSpPr>
        <p:spPr>
          <a:xfrm>
            <a:off x="2217420" y="1325880"/>
            <a:ext cx="1371600" cy="137160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2308860" y="1463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ENCRYPT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08860" y="18288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Key + algorithm</a:t>
            </a:r>
            <a:endParaRPr lang="en-US" sz="1400" dirty="0"/>
          </a:p>
        </p:txBody>
      </p:sp>
      <p:sp>
        <p:nvSpPr>
          <p:cNvPr id="10" name="arrow"/>
          <p:cNvSpPr/>
          <p:nvPr/>
        </p:nvSpPr>
        <p:spPr>
          <a:xfrm>
            <a:off x="3634740" y="1874520"/>
            <a:ext cx="210312" cy="274320"/>
          </a:xfrm>
          <a:prstGeom prst="rightArrow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flow box 3"/>
          <p:cNvSpPr/>
          <p:nvPr/>
        </p:nvSpPr>
        <p:spPr>
          <a:xfrm>
            <a:off x="3886200" y="1325880"/>
            <a:ext cx="1371600" cy="137160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3977640" y="1463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CIPHERTEXT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977640" y="18288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cs typeface="Courier New" pitchFamily="34" charset="-120"/>
              </a:rPr>
              <a:t>NFFUBUOPPO</a:t>
            </a:r>
            <a:endParaRPr lang="en-US" sz="1300" dirty="0"/>
          </a:p>
        </p:txBody>
      </p:sp>
      <p:sp>
        <p:nvSpPr>
          <p:cNvPr id="14" name="arrow"/>
          <p:cNvSpPr/>
          <p:nvPr/>
        </p:nvSpPr>
        <p:spPr>
          <a:xfrm>
            <a:off x="5303520" y="1874520"/>
            <a:ext cx="210312" cy="274320"/>
          </a:xfrm>
          <a:prstGeom prst="rightArrow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flow box 4"/>
          <p:cNvSpPr/>
          <p:nvPr/>
        </p:nvSpPr>
        <p:spPr>
          <a:xfrm>
            <a:off x="5554980" y="1325880"/>
            <a:ext cx="1371600" cy="137160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5646420" y="1463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DECRYPT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646420" y="18288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Same or paired key</a:t>
            </a:r>
            <a:endParaRPr lang="en-US" sz="1400" dirty="0"/>
          </a:p>
        </p:txBody>
      </p:sp>
      <p:sp>
        <p:nvSpPr>
          <p:cNvPr id="18" name="arrow"/>
          <p:cNvSpPr/>
          <p:nvPr/>
        </p:nvSpPr>
        <p:spPr>
          <a:xfrm>
            <a:off x="6972300" y="1874520"/>
            <a:ext cx="210312" cy="274320"/>
          </a:xfrm>
          <a:prstGeom prst="rightArrow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flow box 5"/>
          <p:cNvSpPr/>
          <p:nvPr/>
        </p:nvSpPr>
        <p:spPr>
          <a:xfrm>
            <a:off x="7223760" y="1325880"/>
            <a:ext cx="137160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7315200" y="1463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PLAINTEXT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18288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MEET AT NOON</a:t>
            </a:r>
            <a:endParaRPr lang="en-US" sz="1300" dirty="0"/>
          </a:p>
        </p:txBody>
      </p:sp>
      <p:sp>
        <p:nvSpPr>
          <p:cNvPr id="22" name="Confidentiality card"/>
          <p:cNvSpPr/>
          <p:nvPr/>
        </p:nvSpPr>
        <p:spPr>
          <a:xfrm>
            <a:off x="548640" y="3108960"/>
            <a:ext cx="256032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Confidentiality circle"/>
          <p:cNvSpPr/>
          <p:nvPr/>
        </p:nvSpPr>
        <p:spPr>
          <a:xfrm>
            <a:off x="731520" y="33832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Image 0" descr="Confidentialit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742" y="3562502"/>
            <a:ext cx="281635" cy="281635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1508760" y="33375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</a:rPr>
              <a:t>Confidentiality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1508760" y="365760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Only key holders can read it</a:t>
            </a:r>
            <a:endParaRPr lang="en-US" sz="1400" dirty="0"/>
          </a:p>
        </p:txBody>
      </p:sp>
      <p:sp>
        <p:nvSpPr>
          <p:cNvPr id="27" name="Integrity card"/>
          <p:cNvSpPr/>
          <p:nvPr/>
        </p:nvSpPr>
        <p:spPr>
          <a:xfrm>
            <a:off x="3291840" y="3108960"/>
            <a:ext cx="256032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Integrity circle"/>
          <p:cNvSpPr/>
          <p:nvPr/>
        </p:nvSpPr>
        <p:spPr>
          <a:xfrm>
            <a:off x="3474720" y="33832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9" name="Image 1" descr="Integrit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3942" y="3562502"/>
            <a:ext cx="281635" cy="281635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4251960" y="33375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</a:rPr>
              <a:t>Integrity</a:t>
            </a:r>
            <a:endParaRPr lang="en-US" sz="1600" dirty="0"/>
          </a:p>
        </p:txBody>
      </p:sp>
      <p:sp>
        <p:nvSpPr>
          <p:cNvPr id="31" name="Text 27"/>
          <p:cNvSpPr txBox="1"/>
          <p:nvPr/>
        </p:nvSpPr>
        <p:spPr>
          <a:xfrm>
            <a:off x="4251960" y="365760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Tampering is detectable</a:t>
            </a:r>
            <a:endParaRPr lang="en-US" sz="1400" dirty="0"/>
          </a:p>
        </p:txBody>
      </p:sp>
      <p:sp>
        <p:nvSpPr>
          <p:cNvPr id="32" name="Authentication card"/>
          <p:cNvSpPr/>
          <p:nvPr/>
        </p:nvSpPr>
        <p:spPr>
          <a:xfrm>
            <a:off x="6035040" y="3108960"/>
            <a:ext cx="256032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Authentication circle"/>
          <p:cNvSpPr/>
          <p:nvPr/>
        </p:nvSpPr>
        <p:spPr>
          <a:xfrm>
            <a:off x="6217920" y="33832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4" name="Image 2" descr="Authenticati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7142" y="3562502"/>
            <a:ext cx="281635" cy="281635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6995160" y="33375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</a:rPr>
              <a:t>Authentication</a:t>
            </a:r>
            <a:endParaRPr lang="en-US" sz="1600" dirty="0"/>
          </a:p>
        </p:txBody>
      </p:sp>
      <p:sp>
        <p:nvSpPr>
          <p:cNvPr id="36" name="Text 31"/>
          <p:cNvSpPr txBox="1"/>
          <p:nvPr/>
        </p:nvSpPr>
        <p:spPr>
          <a:xfrm>
            <a:off x="6995160" y="365760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Proves who sent it</a:t>
            </a:r>
            <a:endParaRPr lang="en-US" sz="14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Steganography: concealing the message</a:t>
            </a:r>
            <a:endParaRPr lang="en-US" sz="3200" dirty="0"/>
          </a:p>
        </p:txBody>
      </p:sp>
      <p:sp>
        <p:nvSpPr>
          <p:cNvPr id="3" name="input 1"/>
          <p:cNvSpPr/>
          <p:nvPr/>
        </p:nvSpPr>
        <p:spPr>
          <a:xfrm>
            <a:off x="548640" y="1325880"/>
            <a:ext cx="201168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SECRET MESSAGE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733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Meet at noon</a:t>
            </a:r>
            <a:endParaRPr lang="en-US" sz="1400" dirty="0"/>
          </a:p>
        </p:txBody>
      </p:sp>
      <p:sp>
        <p:nvSpPr>
          <p:cNvPr id="6" name="input 2"/>
          <p:cNvSpPr/>
          <p:nvPr/>
        </p:nvSpPr>
        <p:spPr>
          <a:xfrm>
            <a:off x="548640" y="2103120"/>
            <a:ext cx="201168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640080" y="2194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COVER FILE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450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Ordinary photo</a:t>
            </a:r>
            <a:endParaRPr lang="en-US" sz="1400" dirty="0"/>
          </a:p>
        </p:txBody>
      </p:sp>
      <p:sp>
        <p:nvSpPr>
          <p:cNvPr id="9" name="stego box 1"/>
          <p:cNvSpPr/>
          <p:nvPr/>
        </p:nvSpPr>
        <p:spPr>
          <a:xfrm>
            <a:off x="2926080" y="1325880"/>
            <a:ext cx="1554480" cy="1463040"/>
          </a:xfrm>
          <a:prstGeom prst="roundRect">
            <a:avLst>
              <a:gd name="adj" fmla="val 625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3017520" y="1463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EMBED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017520" y="18288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Hide bits inside the cover</a:t>
            </a:r>
            <a:endParaRPr lang="en-US" sz="1400" dirty="0"/>
          </a:p>
        </p:txBody>
      </p:sp>
      <p:sp>
        <p:nvSpPr>
          <p:cNvPr id="12" name="stego box 2"/>
          <p:cNvSpPr/>
          <p:nvPr/>
        </p:nvSpPr>
        <p:spPr>
          <a:xfrm>
            <a:off x="4846320" y="1325880"/>
            <a:ext cx="1828800" cy="1463040"/>
          </a:xfrm>
          <a:prstGeom prst="roundRect">
            <a:avLst>
              <a:gd name="adj" fmla="val 625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4937760" y="1463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STEGO FILE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18288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Looks identical to the original</a:t>
            </a:r>
            <a:endParaRPr lang="en-US" sz="1400" dirty="0"/>
          </a:p>
        </p:txBody>
      </p:sp>
      <p:sp>
        <p:nvSpPr>
          <p:cNvPr id="15" name="stego box 3"/>
          <p:cNvSpPr/>
          <p:nvPr/>
        </p:nvSpPr>
        <p:spPr>
          <a:xfrm>
            <a:off x="7040880" y="1325880"/>
            <a:ext cx="1554480" cy="1463040"/>
          </a:xfrm>
          <a:prstGeom prst="roundRect">
            <a:avLst>
              <a:gd name="adj" fmla="val 625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7132320" y="1463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EXTRACT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132320" y="18288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Recipient recovers the secret</a:t>
            </a:r>
            <a:endParaRPr lang="en-US" sz="1400" dirty="0"/>
          </a:p>
        </p:txBody>
      </p:sp>
      <p:sp>
        <p:nvSpPr>
          <p:cNvPr id="18" name="arrow"/>
          <p:cNvSpPr/>
          <p:nvPr/>
        </p:nvSpPr>
        <p:spPr>
          <a:xfrm>
            <a:off x="2606040" y="1920240"/>
            <a:ext cx="274320" cy="274320"/>
          </a:xfrm>
          <a:prstGeom prst="rightArrow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arrow"/>
          <p:cNvSpPr/>
          <p:nvPr/>
        </p:nvSpPr>
        <p:spPr>
          <a:xfrm>
            <a:off x="4526280" y="1920240"/>
            <a:ext cx="274320" cy="274320"/>
          </a:xfrm>
          <a:prstGeom prst="rightArrow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arrow"/>
          <p:cNvSpPr/>
          <p:nvPr/>
        </p:nvSpPr>
        <p:spPr>
          <a:xfrm>
            <a:off x="6720840" y="1920240"/>
            <a:ext cx="274320" cy="274320"/>
          </a:xfrm>
          <a:prstGeom prst="rightArrow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Undetectable card"/>
          <p:cNvSpPr/>
          <p:nvPr/>
        </p:nvSpPr>
        <p:spPr>
          <a:xfrm>
            <a:off x="548640" y="3108960"/>
            <a:ext cx="256032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Undetectable circle"/>
          <p:cNvSpPr/>
          <p:nvPr/>
        </p:nvSpPr>
        <p:spPr>
          <a:xfrm>
            <a:off x="731520" y="338328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0" descr="Undetectab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742" y="3562502"/>
            <a:ext cx="281635" cy="281635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1508760" y="33375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</a:rPr>
              <a:t>Undetectable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1508760" y="365760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No visible or audible change</a:t>
            </a:r>
            <a:endParaRPr lang="en-US" sz="1400" dirty="0"/>
          </a:p>
        </p:txBody>
      </p:sp>
      <p:sp>
        <p:nvSpPr>
          <p:cNvPr id="26" name="Capacity card"/>
          <p:cNvSpPr/>
          <p:nvPr/>
        </p:nvSpPr>
        <p:spPr>
          <a:xfrm>
            <a:off x="3291840" y="3108960"/>
            <a:ext cx="256032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Capacity circle"/>
          <p:cNvSpPr/>
          <p:nvPr/>
        </p:nvSpPr>
        <p:spPr>
          <a:xfrm>
            <a:off x="3474720" y="338328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8" name="Image 1" descr="Capacit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3942" y="3562502"/>
            <a:ext cx="281635" cy="281635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4251960" y="33375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</a:rPr>
              <a:t>Capacity</a:t>
            </a:r>
            <a:endParaRPr lang="en-US" sz="1600" dirty="0"/>
          </a:p>
        </p:txBody>
      </p:sp>
      <p:sp>
        <p:nvSpPr>
          <p:cNvPr id="30" name="Text 26"/>
          <p:cNvSpPr txBox="1"/>
          <p:nvPr/>
        </p:nvSpPr>
        <p:spPr>
          <a:xfrm>
            <a:off x="4251960" y="365760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How much data fits inside</a:t>
            </a:r>
            <a:endParaRPr lang="en-US" sz="1400" dirty="0"/>
          </a:p>
        </p:txBody>
      </p:sp>
      <p:sp>
        <p:nvSpPr>
          <p:cNvPr id="31" name="Robustness card"/>
          <p:cNvSpPr/>
          <p:nvPr/>
        </p:nvSpPr>
        <p:spPr>
          <a:xfrm>
            <a:off x="6035040" y="3108960"/>
            <a:ext cx="256032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Robustness circle"/>
          <p:cNvSpPr/>
          <p:nvPr/>
        </p:nvSpPr>
        <p:spPr>
          <a:xfrm>
            <a:off x="6217920" y="338328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3" name="Image 2" descr="Robustnes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7142" y="3562502"/>
            <a:ext cx="281635" cy="281635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6995160" y="33375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</a:rPr>
              <a:t>Robustness</a:t>
            </a:r>
            <a:endParaRPr lang="en-US" sz="1600" dirty="0"/>
          </a:p>
        </p:txBody>
      </p:sp>
      <p:sp>
        <p:nvSpPr>
          <p:cNvPr id="35" name="Text 30"/>
          <p:cNvSpPr txBox="1"/>
          <p:nvPr/>
        </p:nvSpPr>
        <p:spPr>
          <a:xfrm>
            <a:off x="6995160" y="365760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Survives resizing and editing</a:t>
            </a:r>
            <a:endParaRPr lang="en-US" sz="14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Side-by-side comparison</a:t>
            </a:r>
            <a:endParaRPr lang="en-US" sz="3200" dirty="0"/>
          </a:p>
        </p:txBody>
      </p:sp>
      <p:graphicFrame>
        <p:nvGraphicFramePr>
          <p:cNvPr id="6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3328416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Cryptography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Steganography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Goal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Make data unreadable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Make data unnoticed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Visibility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Obvious, looks scrambled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Hidden inside normal files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If discovered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Still unreadable without key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Secret exposed, no protection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Techniques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AES, RSA, ECC, SHA-256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LSB, spread spectrum, phase coding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Strength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Mathematically proven security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Conceals that a secret exists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Weakness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Signals that something is hidden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Low capacity, fragile to editing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Where data can hide</a:t>
            </a:r>
            <a:endParaRPr lang="en-US" sz="3200" dirty="0"/>
          </a:p>
        </p:txBody>
      </p:sp>
      <p:sp>
        <p:nvSpPr>
          <p:cNvPr id="3" name="Images card"/>
          <p:cNvSpPr/>
          <p:nvPr/>
        </p:nvSpPr>
        <p:spPr>
          <a:xfrm>
            <a:off x="548640" y="1280160"/>
            <a:ext cx="256032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Images circle"/>
          <p:cNvSpPr/>
          <p:nvPr/>
        </p:nvSpPr>
        <p:spPr>
          <a:xfrm>
            <a:off x="731520" y="146304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Imag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1629461"/>
            <a:ext cx="261518" cy="2615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5727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tx1"/>
                </a:solidFill>
              </a:rPr>
              <a:t>Images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17627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Tweak the lowest bits of pixel colors</a:t>
            </a:r>
            <a:endParaRPr lang="en-US" sz="1300" dirty="0"/>
          </a:p>
        </p:txBody>
      </p:sp>
      <p:sp>
        <p:nvSpPr>
          <p:cNvPr id="8" name="Audio card"/>
          <p:cNvSpPr/>
          <p:nvPr/>
        </p:nvSpPr>
        <p:spPr>
          <a:xfrm>
            <a:off x="3291840" y="1280160"/>
            <a:ext cx="256032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Audio circle"/>
          <p:cNvSpPr/>
          <p:nvPr/>
        </p:nvSpPr>
        <p:spPr>
          <a:xfrm>
            <a:off x="3474720" y="146304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Audi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141" y="1629461"/>
            <a:ext cx="261518" cy="26151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251960" y="15727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tx1"/>
                </a:solidFill>
              </a:rPr>
              <a:t>Audio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474720" y="217627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Add changes humans cannot hear</a:t>
            </a:r>
            <a:endParaRPr lang="en-US" sz="1300" dirty="0"/>
          </a:p>
        </p:txBody>
      </p:sp>
      <p:sp>
        <p:nvSpPr>
          <p:cNvPr id="13" name="Video card"/>
          <p:cNvSpPr/>
          <p:nvPr/>
        </p:nvSpPr>
        <p:spPr>
          <a:xfrm>
            <a:off x="6035040" y="1280160"/>
            <a:ext cx="256032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Video circle"/>
          <p:cNvSpPr/>
          <p:nvPr/>
        </p:nvSpPr>
        <p:spPr>
          <a:xfrm>
            <a:off x="6217920" y="146304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Vide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4341" y="1629461"/>
            <a:ext cx="261518" cy="26151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995160" y="15727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tx1"/>
                </a:solidFill>
              </a:rPr>
              <a:t>Video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217920" y="217627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Hide bits across frames and motion data</a:t>
            </a:r>
            <a:endParaRPr lang="en-US" sz="1300" dirty="0"/>
          </a:p>
        </p:txBody>
      </p:sp>
      <p:sp>
        <p:nvSpPr>
          <p:cNvPr id="18" name="Text card"/>
          <p:cNvSpPr/>
          <p:nvPr/>
        </p:nvSpPr>
        <p:spPr>
          <a:xfrm>
            <a:off x="548640" y="2880360"/>
            <a:ext cx="256032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circle"/>
          <p:cNvSpPr/>
          <p:nvPr/>
        </p:nvSpPr>
        <p:spPr>
          <a:xfrm>
            <a:off x="731520" y="306324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3" descr="Tex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941" y="3229661"/>
            <a:ext cx="261518" cy="26151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508760" y="31729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tx1"/>
                </a:solidFill>
              </a:rPr>
              <a:t>Text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731520" y="377647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Use spacing, punctuation or word choice</a:t>
            </a:r>
            <a:endParaRPr lang="en-US" sz="1300" dirty="0"/>
          </a:p>
        </p:txBody>
      </p:sp>
      <p:sp>
        <p:nvSpPr>
          <p:cNvPr id="23" name="Network card"/>
          <p:cNvSpPr/>
          <p:nvPr/>
        </p:nvSpPr>
        <p:spPr>
          <a:xfrm>
            <a:off x="3291840" y="2880360"/>
            <a:ext cx="256032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Network circle"/>
          <p:cNvSpPr/>
          <p:nvPr/>
        </p:nvSpPr>
        <p:spPr>
          <a:xfrm>
            <a:off x="3474720" y="306324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4" descr="Network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41141" y="3229661"/>
            <a:ext cx="261518" cy="26151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251960" y="31729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tx1"/>
                </a:solidFill>
              </a:rPr>
              <a:t>Network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3474720" y="377647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Embed bits in unused packet header fields</a:t>
            </a:r>
            <a:endParaRPr lang="en-US" sz="1300" dirty="0"/>
          </a:p>
        </p:txBody>
      </p:sp>
      <p:sp>
        <p:nvSpPr>
          <p:cNvPr id="28" name="Files card"/>
          <p:cNvSpPr/>
          <p:nvPr/>
        </p:nvSpPr>
        <p:spPr>
          <a:xfrm>
            <a:off x="6035040" y="2880360"/>
            <a:ext cx="256032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Files circle"/>
          <p:cNvSpPr/>
          <p:nvPr/>
        </p:nvSpPr>
        <p:spPr>
          <a:xfrm>
            <a:off x="6217920" y="306324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0" name="Image 5" descr="Files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4341" y="3229661"/>
            <a:ext cx="261518" cy="261518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995160" y="31729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tx1"/>
                </a:solidFill>
              </a:rPr>
              <a:t>Files</a:t>
            </a:r>
            <a:endParaRPr lang="en-US" sz="1800" dirty="0"/>
          </a:p>
        </p:txBody>
      </p:sp>
      <p:sp>
        <p:nvSpPr>
          <p:cNvPr id="32" name="Text 24"/>
          <p:cNvSpPr txBox="1"/>
          <p:nvPr/>
        </p:nvSpPr>
        <p:spPr>
          <a:xfrm>
            <a:off x="6217920" y="377647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Store data in slack space and metadata</a:t>
            </a:r>
            <a:endParaRPr lang="en-US" sz="13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Example: least significant bit hiding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</a:rPr>
              <a:t>Original red value of one pixel: 180</a:t>
            </a:r>
            <a:endParaRPr lang="en-US" sz="1400" dirty="0"/>
          </a:p>
        </p:txBody>
      </p:sp>
      <p:sp>
        <p:nvSpPr>
          <p:cNvPr id="4" name="bit 0"/>
          <p:cNvSpPr/>
          <p:nvPr/>
        </p:nvSpPr>
        <p:spPr>
          <a:xfrm>
            <a:off x="548640" y="1645920"/>
            <a:ext cx="502920" cy="5486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bit 1"/>
          <p:cNvSpPr/>
          <p:nvPr/>
        </p:nvSpPr>
        <p:spPr>
          <a:xfrm>
            <a:off x="1143000" y="1645920"/>
            <a:ext cx="502920" cy="5486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1143000" y="16459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8" name="bit 2"/>
          <p:cNvSpPr/>
          <p:nvPr/>
        </p:nvSpPr>
        <p:spPr>
          <a:xfrm>
            <a:off x="1737360" y="1645920"/>
            <a:ext cx="502920" cy="5486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1737360" y="16459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bit 3"/>
          <p:cNvSpPr/>
          <p:nvPr/>
        </p:nvSpPr>
        <p:spPr>
          <a:xfrm>
            <a:off x="2331720" y="1645920"/>
            <a:ext cx="502920" cy="5486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2331720" y="16459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bit 4"/>
          <p:cNvSpPr/>
          <p:nvPr/>
        </p:nvSpPr>
        <p:spPr>
          <a:xfrm>
            <a:off x="2926080" y="1645920"/>
            <a:ext cx="502920" cy="5486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2926080" y="16459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14" name="bit 5"/>
          <p:cNvSpPr/>
          <p:nvPr/>
        </p:nvSpPr>
        <p:spPr>
          <a:xfrm>
            <a:off x="3520440" y="1645920"/>
            <a:ext cx="502920" cy="5486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3520440" y="16459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16" name="bit 6"/>
          <p:cNvSpPr/>
          <p:nvPr/>
        </p:nvSpPr>
        <p:spPr>
          <a:xfrm>
            <a:off x="4114800" y="1645920"/>
            <a:ext cx="502920" cy="5486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4114800" y="16459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18" name="bit 7"/>
          <p:cNvSpPr/>
          <p:nvPr/>
        </p:nvSpPr>
        <p:spPr>
          <a:xfrm>
            <a:off x="4709160" y="1645920"/>
            <a:ext cx="502920" cy="5486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4709160" y="16459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20" name="down arrow"/>
          <p:cNvSpPr/>
          <p:nvPr/>
        </p:nvSpPr>
        <p:spPr>
          <a:xfrm>
            <a:off x="4818888" y="2286000"/>
            <a:ext cx="274320" cy="365760"/>
          </a:xfrm>
          <a:prstGeom prst="downArrow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548640" y="2743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</a:rPr>
              <a:t>Secret bit 1 replaces the last bit: 181</a:t>
            </a:r>
            <a:endParaRPr lang="en-US" sz="1400" dirty="0"/>
          </a:p>
        </p:txBody>
      </p:sp>
      <p:sp>
        <p:nvSpPr>
          <p:cNvPr id="22" name="bit 0"/>
          <p:cNvSpPr/>
          <p:nvPr/>
        </p:nvSpPr>
        <p:spPr>
          <a:xfrm>
            <a:off x="548640" y="3108960"/>
            <a:ext cx="502920" cy="5486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548640" y="31089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24" name="bit 1"/>
          <p:cNvSpPr/>
          <p:nvPr/>
        </p:nvSpPr>
        <p:spPr>
          <a:xfrm>
            <a:off x="1143000" y="3108960"/>
            <a:ext cx="502920" cy="5486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1143000" y="31089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26" name="bit 2"/>
          <p:cNvSpPr/>
          <p:nvPr/>
        </p:nvSpPr>
        <p:spPr>
          <a:xfrm>
            <a:off x="1737360" y="3108960"/>
            <a:ext cx="502920" cy="5486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1737360" y="31089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28" name="bit 3"/>
          <p:cNvSpPr/>
          <p:nvPr/>
        </p:nvSpPr>
        <p:spPr>
          <a:xfrm>
            <a:off x="2331720" y="3108960"/>
            <a:ext cx="502920" cy="5486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 txBox="1"/>
          <p:nvPr/>
        </p:nvSpPr>
        <p:spPr>
          <a:xfrm>
            <a:off x="2331720" y="31089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30" name="bit 4"/>
          <p:cNvSpPr/>
          <p:nvPr/>
        </p:nvSpPr>
        <p:spPr>
          <a:xfrm>
            <a:off x="2926080" y="3108960"/>
            <a:ext cx="502920" cy="5486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 txBox="1"/>
          <p:nvPr/>
        </p:nvSpPr>
        <p:spPr>
          <a:xfrm>
            <a:off x="2926080" y="31089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32" name="bit 5"/>
          <p:cNvSpPr/>
          <p:nvPr/>
        </p:nvSpPr>
        <p:spPr>
          <a:xfrm>
            <a:off x="3520440" y="3108960"/>
            <a:ext cx="502920" cy="5486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 txBox="1"/>
          <p:nvPr/>
        </p:nvSpPr>
        <p:spPr>
          <a:xfrm>
            <a:off x="3520440" y="31089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34" name="bit 6"/>
          <p:cNvSpPr/>
          <p:nvPr/>
        </p:nvSpPr>
        <p:spPr>
          <a:xfrm>
            <a:off x="4114800" y="3108960"/>
            <a:ext cx="502920" cy="5486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 txBox="1"/>
          <p:nvPr/>
        </p:nvSpPr>
        <p:spPr>
          <a:xfrm>
            <a:off x="4114800" y="31089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36" name="bit 7"/>
          <p:cNvSpPr/>
          <p:nvPr/>
        </p:nvSpPr>
        <p:spPr>
          <a:xfrm>
            <a:off x="4709160" y="3108960"/>
            <a:ext cx="502920" cy="548640"/>
          </a:xfrm>
          <a:prstGeom prst="roundRect">
            <a:avLst>
              <a:gd name="adj" fmla="val 10909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 txBox="1"/>
          <p:nvPr/>
        </p:nvSpPr>
        <p:spPr>
          <a:xfrm>
            <a:off x="4709160" y="31089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38" name="swatch before"/>
          <p:cNvSpPr/>
          <p:nvPr/>
        </p:nvSpPr>
        <p:spPr>
          <a:xfrm>
            <a:off x="548640" y="3931920"/>
            <a:ext cx="457200" cy="457200"/>
          </a:xfrm>
          <a:prstGeom prst="rect">
            <a:avLst/>
          </a:prstGeom>
          <a:solidFill>
            <a:srgbClr val="B45A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watch after"/>
          <p:cNvSpPr/>
          <p:nvPr/>
        </p:nvSpPr>
        <p:spPr>
          <a:xfrm>
            <a:off x="1097280" y="3931920"/>
            <a:ext cx="457200" cy="457200"/>
          </a:xfrm>
          <a:prstGeom prst="rect">
            <a:avLst/>
          </a:prstGeom>
          <a:solidFill>
            <a:srgbClr val="B55A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 txBox="1"/>
          <p:nvPr/>
        </p:nvSpPr>
        <p:spPr>
          <a:xfrm>
            <a:off x="1737360" y="3931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Before and after: visually identical</a:t>
            </a:r>
            <a:endParaRPr lang="en-US" sz="1400" dirty="0"/>
          </a:p>
        </p:txBody>
      </p:sp>
      <p:sp>
        <p:nvSpPr>
          <p:cNvPr id="41" name="stat card"/>
          <p:cNvSpPr/>
          <p:nvPr/>
        </p:nvSpPr>
        <p:spPr>
          <a:xfrm>
            <a:off x="5943600" y="1280160"/>
            <a:ext cx="2651760" cy="3108960"/>
          </a:xfrm>
          <a:prstGeom prst="roundRect">
            <a:avLst>
              <a:gd name="adj" fmla="val 3448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 txBox="1"/>
          <p:nvPr/>
        </p:nvSpPr>
        <p:spPr>
          <a:xfrm>
            <a:off x="6126480" y="15544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≈288 KB</a:t>
            </a:r>
            <a:endParaRPr lang="en-US" sz="3600" dirty="0"/>
          </a:p>
        </p:txBody>
      </p:sp>
      <p:sp>
        <p:nvSpPr>
          <p:cNvPr id="43" name="Text 41"/>
          <p:cNvSpPr txBox="1"/>
          <p:nvPr/>
        </p:nvSpPr>
        <p:spPr>
          <a:xfrm>
            <a:off x="6126480" y="23774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</a:rPr>
              <a:t>of hidden data in one 1024 × 768 photo at 1 bit per color channel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6126480" y="34747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chemeClr val="accent5"/>
                </a:solidFill>
              </a:rPr>
              <a:t>Each color value changes by at most 1 out of 255.</a:t>
            </a:r>
            <a:endParaRPr lang="en-US" sz="140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The cryptography toolbox</a:t>
            </a:r>
            <a:endParaRPr lang="en-US" sz="3200" dirty="0"/>
          </a:p>
        </p:txBody>
      </p:sp>
      <p:sp>
        <p:nvSpPr>
          <p:cNvPr id="3" name="Symmetric card"/>
          <p:cNvSpPr/>
          <p:nvPr/>
        </p:nvSpPr>
        <p:spPr>
          <a:xfrm>
            <a:off x="548640" y="1325880"/>
            <a:ext cx="2560320" cy="301752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ymmetric circle"/>
          <p:cNvSpPr/>
          <p:nvPr/>
        </p:nvSpPr>
        <p:spPr>
          <a:xfrm>
            <a:off x="822960" y="16002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Symmetri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1792224"/>
            <a:ext cx="301752" cy="30175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468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1"/>
                </a:solidFill>
              </a:rPr>
              <a:t>Symmetric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8803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3"/>
                </a:solidFill>
              </a:rPr>
              <a:t>One shared secret key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4290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Fast, ideal for bulk data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931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chemeClr val="tx1"/>
                </a:solidFill>
              </a:rPr>
              <a:t>e.g. AES, ChaCha20</a:t>
            </a:r>
            <a:endParaRPr lang="en-US" sz="1400" dirty="0"/>
          </a:p>
        </p:txBody>
      </p:sp>
      <p:sp>
        <p:nvSpPr>
          <p:cNvPr id="10" name="Asymmetric card"/>
          <p:cNvSpPr/>
          <p:nvPr/>
        </p:nvSpPr>
        <p:spPr>
          <a:xfrm>
            <a:off x="3291840" y="1325880"/>
            <a:ext cx="2560320" cy="301752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Asymmetric circle"/>
          <p:cNvSpPr/>
          <p:nvPr/>
        </p:nvSpPr>
        <p:spPr>
          <a:xfrm>
            <a:off x="3566160" y="16002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Asymmetric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8184" y="1792224"/>
            <a:ext cx="301752" cy="30175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66160" y="2468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1"/>
                </a:solidFill>
              </a:rPr>
              <a:t>Asymmetric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3566160" y="28803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3"/>
                </a:solidFill>
              </a:rPr>
              <a:t>Public and private key pair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3566160" y="34290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Solves key exchange, signs data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3566160" y="3931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chemeClr val="tx1"/>
                </a:solidFill>
              </a:rPr>
              <a:t>e.g. RSA, ECC</a:t>
            </a:r>
            <a:endParaRPr lang="en-US" sz="1400" dirty="0"/>
          </a:p>
        </p:txBody>
      </p:sp>
      <p:sp>
        <p:nvSpPr>
          <p:cNvPr id="17" name="Hashing card"/>
          <p:cNvSpPr/>
          <p:nvPr/>
        </p:nvSpPr>
        <p:spPr>
          <a:xfrm>
            <a:off x="6035040" y="1325880"/>
            <a:ext cx="2560320" cy="301752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Hashing circle"/>
          <p:cNvSpPr/>
          <p:nvPr/>
        </p:nvSpPr>
        <p:spPr>
          <a:xfrm>
            <a:off x="6309360" y="16002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2" descr="Hash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1384" y="1792224"/>
            <a:ext cx="301752" cy="30175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309360" y="2468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1"/>
                </a:solidFill>
              </a:rPr>
              <a:t>Hashing</a:t>
            </a:r>
            <a:endParaRPr lang="en-US" sz="2000" dirty="0"/>
          </a:p>
        </p:txBody>
      </p:sp>
      <p:sp>
        <p:nvSpPr>
          <p:cNvPr id="21" name="Text 16"/>
          <p:cNvSpPr txBox="1"/>
          <p:nvPr/>
        </p:nvSpPr>
        <p:spPr>
          <a:xfrm>
            <a:off x="6309360" y="28803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3"/>
                </a:solidFill>
              </a:rPr>
              <a:t>One-way digital fingerprint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6309360" y="34290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Verifies integrity, cannot be reversed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6309360" y="3931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chemeClr val="tx1"/>
                </a:solidFill>
              </a:rPr>
              <a:t>e.g. SHA-256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Stronger together, with risks</a:t>
            </a:r>
            <a:endParaRPr lang="en-US" sz="3200" dirty="0"/>
          </a:p>
        </p:txBody>
      </p:sp>
      <p:sp>
        <p:nvSpPr>
          <p:cNvPr id="3" name="step Encrypt"/>
          <p:cNvSpPr/>
          <p:nvPr/>
        </p:nvSpPr>
        <p:spPr>
          <a:xfrm>
            <a:off x="548640" y="1280160"/>
            <a:ext cx="1737360" cy="822960"/>
          </a:xfrm>
          <a:prstGeom prst="chevron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868680" y="12801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Encrypt</a:t>
            </a:r>
            <a:endParaRPr lang="en-US" sz="1400" dirty="0"/>
          </a:p>
        </p:txBody>
      </p:sp>
      <p:sp>
        <p:nvSpPr>
          <p:cNvPr id="5" name="step Embed"/>
          <p:cNvSpPr/>
          <p:nvPr/>
        </p:nvSpPr>
        <p:spPr>
          <a:xfrm>
            <a:off x="2121408" y="1280160"/>
            <a:ext cx="1737360" cy="822960"/>
          </a:xfrm>
          <a:prstGeom prst="chevron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2441448" y="12801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Embed</a:t>
            </a:r>
            <a:endParaRPr lang="en-US" sz="1400" dirty="0"/>
          </a:p>
        </p:txBody>
      </p:sp>
      <p:sp>
        <p:nvSpPr>
          <p:cNvPr id="7" name="step Send"/>
          <p:cNvSpPr/>
          <p:nvPr/>
        </p:nvSpPr>
        <p:spPr>
          <a:xfrm>
            <a:off x="3694176" y="1280160"/>
            <a:ext cx="1737360" cy="822960"/>
          </a:xfrm>
          <a:prstGeom prst="chevron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4014216" y="12801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Send</a:t>
            </a:r>
            <a:endParaRPr lang="en-US" sz="1400" dirty="0"/>
          </a:p>
        </p:txBody>
      </p:sp>
      <p:sp>
        <p:nvSpPr>
          <p:cNvPr id="9" name="step Extract"/>
          <p:cNvSpPr/>
          <p:nvPr/>
        </p:nvSpPr>
        <p:spPr>
          <a:xfrm>
            <a:off x="5266944" y="1280160"/>
            <a:ext cx="1737360" cy="822960"/>
          </a:xfrm>
          <a:prstGeom prst="chevron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5586984" y="12801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Extract</a:t>
            </a:r>
            <a:endParaRPr lang="en-US" sz="1400" dirty="0"/>
          </a:p>
        </p:txBody>
      </p:sp>
      <p:sp>
        <p:nvSpPr>
          <p:cNvPr id="11" name="step Decrypt"/>
          <p:cNvSpPr/>
          <p:nvPr/>
        </p:nvSpPr>
        <p:spPr>
          <a:xfrm>
            <a:off x="6839712" y="1280160"/>
            <a:ext cx="1737360" cy="822960"/>
          </a:xfrm>
          <a:prstGeom prst="chevron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7159752" y="12801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Decrypt</a:t>
            </a:r>
            <a:endParaRPr lang="en-US" sz="1400" dirty="0"/>
          </a:p>
        </p:txBody>
      </p:sp>
      <p:sp>
        <p:nvSpPr>
          <p:cNvPr id="13" name="Why combine them card"/>
          <p:cNvSpPr/>
          <p:nvPr/>
        </p:nvSpPr>
        <p:spPr>
          <a:xfrm>
            <a:off x="548640" y="2468880"/>
            <a:ext cx="3931920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822960" y="2651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tx1"/>
                </a:solidFill>
              </a:rPr>
              <a:t>Why combine them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10896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Encryption protects the content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Steganography hides that it exists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Even if found, only noise remains</a:t>
            </a:r>
            <a:endParaRPr lang="en-US" sz="1400" dirty="0"/>
          </a:p>
        </p:txBody>
      </p:sp>
      <p:sp>
        <p:nvSpPr>
          <p:cNvPr id="16" name="The dark side and defense card"/>
          <p:cNvSpPr/>
          <p:nvPr/>
        </p:nvSpPr>
        <p:spPr>
          <a:xfrm>
            <a:off x="4663440" y="2468880"/>
            <a:ext cx="3931920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4937760" y="2651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tx1"/>
                </a:solidFill>
              </a:rPr>
              <a:t>The dark side and defense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310896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Malware can hide inside images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Steganalysis finds statistical quirks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Scan and sanitize incoming files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Key takeaways</a:t>
            </a:r>
            <a:endParaRPr lang="en-US" sz="3200" dirty="0"/>
          </a:p>
        </p:txBody>
      </p:sp>
      <p:sp>
        <p:nvSpPr>
          <p:cNvPr id="3" name="number 1"/>
          <p:cNvSpPr/>
          <p:nvPr/>
        </p:nvSpPr>
        <p:spPr>
          <a:xfrm>
            <a:off x="548640" y="1371600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37160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chemeClr val="bg1"/>
                </a:solidFill>
              </a:rPr>
              <a:t>Cryptography hides the meaning of a message.</a:t>
            </a:r>
            <a:endParaRPr lang="en-US" sz="2200" dirty="0"/>
          </a:p>
        </p:txBody>
      </p:sp>
      <p:sp>
        <p:nvSpPr>
          <p:cNvPr id="6" name="number 2"/>
          <p:cNvSpPr/>
          <p:nvPr/>
        </p:nvSpPr>
        <p:spPr>
          <a:xfrm>
            <a:off x="548640" y="2240280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54864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24028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chemeClr val="bg1"/>
                </a:solidFill>
              </a:rPr>
              <a:t>Steganography hides the existence of a message.</a:t>
            </a:r>
            <a:endParaRPr lang="en-US" sz="2200" dirty="0"/>
          </a:p>
        </p:txBody>
      </p:sp>
      <p:sp>
        <p:nvSpPr>
          <p:cNvPr id="9" name="number 3"/>
          <p:cNvSpPr/>
          <p:nvPr/>
        </p:nvSpPr>
        <p:spPr>
          <a:xfrm>
            <a:off x="548640" y="3108960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548640" y="3108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3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10896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chemeClr val="bg1"/>
                </a:solidFill>
              </a:rPr>
              <a:t>Used together, they provide defense in depth.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i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best secrets are both locked and unseen.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idden Security">
  <a:themeElements>
    <a:clrScheme name="Hidden Security">
      <a:dk1>
        <a:srgbClr val="0B1F2A"/>
      </a:dk1>
      <a:lt1>
        <a:srgbClr val="FFFFFF"/>
      </a:lt1>
      <a:dk2>
        <a:srgbClr val="12343F"/>
      </a:dk2>
      <a:lt2>
        <a:srgbClr val="E9F3F2"/>
      </a:lt2>
      <a:accent1>
        <a:srgbClr val="0A8F83"/>
      </a:accent1>
      <a:accent2>
        <a:srgbClr val="E8A33D"/>
      </a:accent2>
      <a:accent3>
        <a:srgbClr val="5C6B73"/>
      </a:accent3>
      <a:accent4>
        <a:srgbClr val="2F6690"/>
      </a:accent4>
      <a:accent5>
        <a:srgbClr val="F4C77D"/>
      </a:accent5>
      <a:accent6>
        <a:srgbClr val="3DDCC8"/>
      </a:accent6>
      <a:hlink>
        <a:srgbClr val="2F6690"/>
      </a:hlink>
      <a:folHlink>
        <a:srgbClr val="5C6B73"/>
      </a:folHlink>
    </a:clrScheme>
    <a:fontScheme name="Hidden Securit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719</Words>
  <Application>Microsoft Office PowerPoint</Application>
  <PresentationFormat>On-screen Show (16:9)</PresentationFormat>
  <Paragraphs>169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Hidden Security</vt:lpstr>
      <vt:lpstr>Steganography vs Cryptography</vt:lpstr>
      <vt:lpstr>Two ways to keep a secret</vt:lpstr>
      <vt:lpstr>Cryptography: scrambling the message</vt:lpstr>
      <vt:lpstr>Steganography: concealing the message</vt:lpstr>
      <vt:lpstr>Side-by-side comparison</vt:lpstr>
      <vt:lpstr>Where data can hide</vt:lpstr>
      <vt:lpstr>Example: least significant bit hiding</vt:lpstr>
      <vt:lpstr>The cryptography toolbox</vt:lpstr>
      <vt:lpstr>Stronger together, with risks</vt:lpstr>
      <vt:lpstr>Key takeaways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Steganography vs Cryptography</dc:title>
  <dc:subject>PptxGenJS Presentation</dc:subject>
  <dc:creator>PptxGenJS</dc:creator>
  <cp:lastModifiedBy>vignesh V</cp:lastModifiedBy>
  <cp:revision>4</cp:revision>
  <dcterms:created xsi:type="dcterms:W3CDTF">2026-10-08T03:26:45Z</dcterms:created>
  <dcterms:modified xsi:type="dcterms:W3CDTF">2026-10-08T04:08:27Z</dcterms:modified>
</cp:coreProperties>
</file>